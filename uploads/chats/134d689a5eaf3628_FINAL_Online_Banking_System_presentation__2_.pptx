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25" r:id="rId4"/>
    <p:sldId id="257" r:id="rId5"/>
    <p:sldId id="282" r:id="rId6"/>
    <p:sldId id="280" r:id="rId7"/>
    <p:sldId id="326" r:id="rId8"/>
    <p:sldId id="276" r:id="rId9"/>
    <p:sldId id="275" r:id="rId10"/>
    <p:sldId id="274" r:id="rId11"/>
    <p:sldId id="273" r:id="rId12"/>
    <p:sldId id="272" r:id="rId13"/>
    <p:sldId id="267" r:id="rId14"/>
    <p:sldId id="262" r:id="rId15"/>
    <p:sldId id="415" r:id="rId16"/>
    <p:sldId id="259" r:id="rId17"/>
    <p:sldId id="287" r:id="rId18"/>
    <p:sldId id="400" r:id="rId19"/>
    <p:sldId id="297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414" r:id="rId32"/>
    <p:sldId id="32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5300" b="1">
                <a:sym typeface="+mn-ea"/>
              </a:rPr>
              <a:t>Online Banking System</a:t>
            </a:r>
            <a:br>
              <a:rPr lang="en-US" sz="5300" b="1">
                <a:latin typeface="+mj-lt"/>
              </a:rPr>
            </a:br>
            <a:r>
              <a:rPr lang="en-US" sz="5300" b="1">
                <a:sym typeface="+mn-ea"/>
              </a:rPr>
              <a:t>Design Document</a:t>
            </a:r>
            <a:endParaRPr lang="en-US" sz="5300" b="1"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 anchor="t">
            <a:normAutofit fontScale="32500" lnSpcReduction="20000"/>
          </a:bodyPr>
          <a:lstStyle/>
          <a:p>
            <a:pPr algn="r"/>
            <a:r>
              <a:rPr lang="en-US" sz="2600" dirty="0"/>
              <a:t>Overview, Objectives, and Guidelines</a:t>
            </a:r>
            <a:endParaRPr lang="en-US" sz="2600" dirty="0"/>
          </a:p>
          <a:p>
            <a:pPr algn="r"/>
            <a:r>
              <a:rPr lang="en-US" sz="2600" dirty="0"/>
              <a:t>The design specifications for the Online Banking System</a:t>
            </a:r>
            <a:endParaRPr lang="en-US" sz="2600" dirty="0"/>
          </a:p>
          <a:p>
            <a:pPr algn="r"/>
            <a:endParaRPr lang="en-US" sz="2600" dirty="0"/>
          </a:p>
          <a:p>
            <a:pPr algn="r"/>
            <a:endParaRPr lang="en-US" sz="1000" dirty="0"/>
          </a:p>
          <a:p>
            <a:pPr algn="r"/>
            <a:r>
              <a:rPr lang="en-US" sz="2000" dirty="0"/>
              <a:t>Date: 0 2 - 1 1 - 2 0 2 4</a:t>
            </a:r>
            <a:endParaRPr lang="en-US" sz="2000" dirty="0"/>
          </a:p>
        </p:txBody>
      </p:sp>
      <p:pic>
        <p:nvPicPr>
          <p:cNvPr id="23" name="Graphic 22" descr="Smart Phon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PREAPRED BY: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HAWO MOHAMMED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YISHAK ALEMU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YOHANNES AYENEW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YOSEF DAGNE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YUSUF KEDIR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ZEKARIAS TAMIRU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Design specifications for the Online Banking System.</a:t>
            </a:r>
            <a:endParaRPr lang="en-US"/>
          </a:p>
          <a:p>
            <a:pPr marL="0" indent="0">
              <a:buNone/>
            </a:pPr>
            <a:r>
              <a:rPr lang="en-US" altLang="en-US"/>
              <a:t> key areas</a:t>
            </a:r>
            <a:endParaRPr lang="en-US" altLang="en-US"/>
          </a:p>
          <a:p>
            <a:r>
              <a:rPr lang="en-US"/>
              <a:t>  </a:t>
            </a:r>
            <a:r>
              <a:rPr lang="en-US" altLang="en-US"/>
              <a:t>Transition from traditional banking to e-banking.</a:t>
            </a:r>
            <a:endParaRPr lang="en-US" altLang="en-US"/>
          </a:p>
          <a:p>
            <a:r>
              <a:rPr lang="en-US" altLang="en-US"/>
              <a:t>System interfaces and data stores.</a:t>
            </a:r>
            <a:endParaRPr lang="en-US" altLang="en-US"/>
          </a:p>
          <a:p>
            <a:r>
              <a:rPr lang="en-US" altLang="en-US"/>
              <a:t>Structural design and class descriptions.</a:t>
            </a:r>
            <a:endParaRPr lang="en-US" altLang="en-US"/>
          </a:p>
          <a:p>
            <a:r>
              <a:rPr lang="en-US" altLang="en-US"/>
              <a:t>Dynamic models and user scenarios.</a:t>
            </a:r>
            <a:endParaRPr lang="en-US" altLang="en-US"/>
          </a:p>
          <a:p>
            <a:r>
              <a:rPr lang="en-US" altLang="en-US"/>
              <a:t>Supplementary documentation and security considerations.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Functionality Coverage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lstStyle/>
          <a:p>
            <a:pPr marL="0" indent="0">
              <a:buNone/>
            </a:pPr>
            <a:r>
              <a:rPr lang="en-US" sz="2800"/>
              <a:t>Core Functionalities: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  - Account Management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  - Fund Transfers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  - Bill Payments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  - Account Inquiries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  - Transaction History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Scope and Context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Focus Areas:</a:t>
            </a:r>
            <a:endParaRPr lang="en-US"/>
          </a:p>
          <a:p>
            <a:pPr marL="0" indent="0">
              <a:buNone/>
            </a:pPr>
            <a:r>
              <a:rPr lang="en-US"/>
              <a:t>  - Core functionalities for online banking services.</a:t>
            </a:r>
            <a:endParaRPr lang="en-US"/>
          </a:p>
          <a:p>
            <a:pPr marL="0" indent="0">
              <a:buNone/>
            </a:pPr>
            <a:r>
              <a:rPr lang="en-US"/>
              <a:t>  - Emphasis on customer convenience and security.</a:t>
            </a:r>
            <a:endParaRPr lang="en-US"/>
          </a:p>
          <a:p>
            <a:pPr marL="0" indent="0">
              <a:buNone/>
            </a:pPr>
            <a:r>
              <a:rPr lang="en-US"/>
              <a:t>- Exclusions:</a:t>
            </a:r>
            <a:endParaRPr lang="en-US"/>
          </a:p>
          <a:p>
            <a:pPr marL="0" indent="0">
              <a:buNone/>
            </a:pPr>
            <a:r>
              <a:rPr lang="en-US"/>
              <a:t>  - Advanced trading features and complex financial products.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2.Design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ym typeface="+mn-ea"/>
              </a:rPr>
              <a:t>Overview: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- Object-oriented design methodology.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- Emphasis on modularity and reusability.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- Client-server architecture for efficient communication.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Environment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000"/>
              <a:t>Secure Web Environment: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  - Components: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    - Web Server: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Hosts application, 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processes user requests.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    - Database Server: 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Stores user data, account info,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 transaction histories.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    - Client Devices: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 Accessible via desktops,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 laptops, mobile devices.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 Diagram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dirty="0"/>
              <a:t> Shows interactions between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Client, Web Server, and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Database Server.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		fig network diagram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750" y="1583055"/>
            <a:ext cx="5045075" cy="4404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System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Top-Level Structure: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- Client-Server Architecture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- Components: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- Client Interface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- Server Back-end		</a:t>
            </a:r>
            <a:endParaRPr lang="en-US" dirty="0"/>
          </a:p>
          <a:p>
            <a:pPr marL="0" indent="0">
              <a:buNone/>
            </a:pPr>
            <a:r>
              <a:rPr lang="en-US" sz="2000" dirty="0"/>
              <a:t>		fig network diagram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9475" y="1767840"/>
            <a:ext cx="4953000" cy="3741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 Interface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Responsibilities:</a:t>
            </a:r>
            <a:endParaRPr lang="en-US" sz="2800" dirty="0"/>
          </a:p>
          <a:p>
            <a:pPr marL="0" indent="0">
              <a:buNone/>
            </a:pPr>
            <a:r>
              <a:rPr lang="en-US" dirty="0"/>
              <a:t>- User Interface: Responsive design for various screen sizes.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User Authentication: Secure login mechanisms.</a:t>
            </a:r>
            <a:endParaRPr lang="en-US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7715" y="3554121"/>
            <a:ext cx="5875020" cy="2499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Server Back-end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/>
              <a:t>- Core Operations:</a:t>
            </a:r>
            <a:endParaRPr lang="en-US" sz="1400"/>
          </a:p>
          <a:p>
            <a:pPr marL="0" indent="0">
              <a:buNone/>
            </a:pPr>
            <a:r>
              <a:rPr lang="en-US" sz="1400"/>
              <a:t>  - Business Logic Module:Transaction processing, account management.</a:t>
            </a:r>
            <a:endParaRPr lang="en-US" sz="1400"/>
          </a:p>
          <a:p>
            <a:pPr marL="0" indent="0">
              <a:buNone/>
            </a:pPr>
            <a:r>
              <a:rPr lang="en-US" sz="1400"/>
              <a:t>  - Database Module:Data storage, retrieval, integrity, and security.</a:t>
            </a:r>
            <a:endParaRPr lang="en-US" sz="1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6180" y="3128645"/>
            <a:ext cx="6347460" cy="284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3.Interfaces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sz="2400">
                <a:sym typeface="+mn-ea"/>
              </a:rPr>
              <a:t>Components of User Interface:</a:t>
            </a:r>
            <a:endParaRPr lang="en-US" sz="2400">
              <a:sym typeface="+mn-ea"/>
            </a:endParaRP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  - Login/Registration Interface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  - Account Management Dashboard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  - Fund Transfer Interface</a:t>
            </a:r>
            <a:endParaRPr lang="en-US" sz="2400">
              <a:sym typeface="+mn-ea"/>
            </a:endParaRPr>
          </a:p>
          <a:p>
            <a:pPr marL="0" indent="0">
              <a:buNone/>
            </a:pPr>
            <a:r>
              <a:rPr lang="en-US" sz="2400">
                <a:sym typeface="+mn-ea"/>
              </a:rPr>
              <a:t>  - Bill Payment Interface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  - Customer Support Interface</a:t>
            </a:r>
            <a:endParaRPr lang="en-US" sz="2400">
              <a:sym typeface="+mn-ea"/>
            </a:endParaRPr>
          </a:p>
          <a:p>
            <a:pPr marL="0" indent="0">
              <a:buNone/>
            </a:pPr>
            <a:r>
              <a:rPr lang="en-US" sz="2400">
                <a:sym typeface="+mn-ea"/>
              </a:rPr>
              <a:t>  - Settings and Security Interface</a:t>
            </a:r>
            <a:endParaRPr lang="en-US" sz="2400">
              <a:sym typeface="+mn-ea"/>
            </a:endParaRPr>
          </a:p>
          <a:p>
            <a:pPr marL="0" indent="0">
              <a:buNone/>
            </a:pPr>
            <a:r>
              <a:rPr lang="en-US" sz="2400">
                <a:sym typeface="+mn-ea"/>
              </a:rPr>
              <a:t>As the program is web application React frame work is suitable and node js as a back end language</a:t>
            </a:r>
            <a:endParaRPr lang="en-US" sz="2400">
              <a:sym typeface="+mn-ea"/>
            </a:endParaRPr>
          </a:p>
          <a:p>
            <a:pPr marL="0" indent="0">
              <a:buNone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>
                <a:sym typeface="+mn-ea"/>
              </a:rPr>
              <a:t>For:-</a:t>
            </a:r>
            <a:endParaRPr lang="en-US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User Accounts </a:t>
            </a:r>
            <a:endParaRPr lang="en-US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Transaction</a:t>
            </a:r>
            <a:endParaRPr lang="en-US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Session</a:t>
            </a:r>
            <a:endParaRPr lang="en-US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Management 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671195"/>
            <a:ext cx="9603105" cy="4794885"/>
          </a:xfrm>
        </p:spPr>
        <p:txBody>
          <a:bodyPr/>
          <a:p>
            <a:endParaRPr lang="en-US"/>
          </a:p>
        </p:txBody>
      </p:sp>
      <p:pic>
        <p:nvPicPr>
          <p:cNvPr id="5" name="Picture 4" descr="Database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509905"/>
            <a:ext cx="1003173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Structural Design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- Built on an object-oriented approach.</a:t>
            </a:r>
            <a:endParaRPr lang="en-US"/>
          </a:p>
          <a:p>
            <a:pPr marL="0" indent="0">
              <a:buNone/>
            </a:pPr>
            <a:r>
              <a:rPr lang="en-US"/>
              <a:t>- Supports modularity, scalability, and maintainability.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Diagram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8575"/>
            <a:ext cx="10972800" cy="4742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ym typeface="+mn-ea"/>
              </a:rPr>
              <a:t> </a:t>
            </a: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785" y="1694180"/>
            <a:ext cx="8077835" cy="4409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Object diagram</a:t>
            </a:r>
            <a:endParaRPr lang="en-US"/>
          </a:p>
        </p:txBody>
      </p:sp>
      <p:sp>
        <p:nvSpPr>
          <p:cNvPr id="6" name="Content Placeholder 5"/>
          <p:cNvSpPr/>
          <p:nvPr>
            <p:ph idx="1"/>
          </p:nvPr>
        </p:nvSpPr>
        <p:spPr/>
        <p:txBody>
          <a:bodyPr/>
          <a:p>
            <a:r>
              <a:rPr lang="en-US"/>
              <a:t>.</a:t>
            </a:r>
            <a:endParaRPr lang="en-US"/>
          </a:p>
        </p:txBody>
      </p:sp>
      <p:pic>
        <p:nvPicPr>
          <p:cNvPr id="7" name="Picture 6" descr="Object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853565"/>
            <a:ext cx="7769860" cy="4077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5.Dynamic Model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v"/>
            </a:pPr>
            <a:r>
              <a:rPr lang="en-US"/>
              <a:t>User Scenarios and Sequence Diagrams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The dynamic model illustrates how users interact with the Online Banking System through various scenarios.</a:t>
            </a:r>
            <a:endParaRPr lang="en-US"/>
          </a:p>
          <a:p>
            <a:pPr>
              <a:buFont typeface="Wingdings" panose="05000000000000000000" charset="0"/>
              <a:buChar char="v"/>
            </a:pPr>
            <a:r>
              <a:rPr lang="en-US">
                <a:sym typeface="+mn-ea"/>
              </a:rPr>
              <a:t>  Each scenario includes a sequence diagram to visualize the interactions.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1 - User Registration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3500" dirty="0"/>
              <a:t>   </a:t>
            </a:r>
            <a:r>
              <a:rPr lang="en-US" sz="3000" dirty="0"/>
              <a:t>New user creates an account by navigating to the registration page and entering required information.</a:t>
            </a:r>
            <a:endParaRPr lang="en-US" sz="3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000" dirty="0"/>
              <a:t>  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7070" y="2633345"/>
            <a:ext cx="6560185" cy="2670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Scenario 2 - User Login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500"/>
              <a:t>  - Existing user logs in by entering credentials, which are verified against stored user data.</a:t>
            </a:r>
            <a:endParaRPr lang="en-US" sz="25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fig </a:t>
            </a:r>
            <a:r>
              <a:rPr lang="en-US" sz="2000">
                <a:sym typeface="+mn-ea"/>
              </a:rPr>
              <a:t>Sequence Diagram for</a:t>
            </a:r>
            <a:r>
              <a:rPr lang="en-US" sz="2000"/>
              <a:t> user login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210" y="2268220"/>
            <a:ext cx="9053195" cy="3318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3 - Fund Transfer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7500" lnSpcReduction="20000"/>
          </a:bodyPr>
          <a:lstStyle/>
          <a:p>
            <a:pPr marL="0" indent="0">
              <a:buNone/>
            </a:pPr>
            <a:r>
              <a:rPr lang="en-US" sz="3200"/>
              <a:t>  - Logged-in user transfers funds between accounts. The system validates details and updates accounts.</a:t>
            </a:r>
            <a:endParaRPr lang="en-US" sz="32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ym typeface="+mn-ea"/>
              </a:rPr>
              <a:t>Sequence Diagram for Fund Transfer</a:t>
            </a:r>
            <a:endParaRPr lang="en-US" sz="1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2361565"/>
            <a:ext cx="7519670" cy="3143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Scenario 4 - View Transaction History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193532"/>
            <a:ext cx="9603275" cy="345061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000"/>
              <a:t>  - Logged-in user views transaction history. The system retrieves and displays records from the database.</a:t>
            </a:r>
            <a:endParaRPr lang="en-US" sz="40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4800" b="1"/>
              <a:t>Sequence Diagram for </a:t>
            </a:r>
            <a:r>
              <a:rPr lang="en-US" sz="4800" b="1">
                <a:sym typeface="+mn-ea"/>
              </a:rPr>
              <a:t>View Transaction History</a:t>
            </a:r>
            <a:endParaRPr lang="en-US" sz="4800" b="1"/>
          </a:p>
          <a:p>
            <a:pPr marL="0" indent="0">
              <a:buNone/>
            </a:pPr>
            <a:endParaRPr lang="en-US" sz="48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290" y="2636520"/>
            <a:ext cx="8459470" cy="25641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5 - Bill Payment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900"/>
              <a:t>  - User pays a bill by selecting the biller, entering the amount, and confirming the transaction.</a:t>
            </a:r>
            <a:endParaRPr lang="en-US" sz="29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900" b="1"/>
              <a:t>Sequence Diagram for user login</a:t>
            </a:r>
            <a:endParaRPr lang="en-US" sz="2900" b="1"/>
          </a:p>
          <a:p>
            <a:pPr marL="0" indent="0">
              <a:buNone/>
            </a:pPr>
            <a:endParaRPr lang="en-US" sz="29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105" y="2343785"/>
            <a:ext cx="8602345" cy="238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Scenario 6 - Profile Update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7500" lnSpcReduction="20000"/>
          </a:bodyPr>
          <a:lstStyle/>
          <a:p>
            <a:pPr marL="0" indent="0">
              <a:buNone/>
            </a:pPr>
            <a:r>
              <a:rPr lang="en-US" sz="2700"/>
              <a:t>  - User updates profile information. The system validates and updates the database with new details.</a:t>
            </a:r>
            <a:endParaRPr lang="en-US" sz="27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2400" b="1">
              <a:sym typeface="+mn-ea"/>
            </a:endParaRPr>
          </a:p>
          <a:p>
            <a:pPr marL="0" indent="0">
              <a:buNone/>
            </a:pPr>
            <a:r>
              <a:rPr lang="en-US" sz="2700" b="1">
                <a:sym typeface="+mn-ea"/>
              </a:rPr>
              <a:t>Sequence Diagram for Profile Update</a:t>
            </a:r>
            <a:endParaRPr lang="en-US" sz="2700" b="1"/>
          </a:p>
          <a:p>
            <a:pPr marL="0" indent="0">
              <a:buNone/>
            </a:pPr>
            <a:endParaRPr lang="en-US" sz="2700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730" y="2529840"/>
            <a:ext cx="9197975" cy="2357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7 - Change Password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500"/>
              <a:t>  - User changes their password by entering the current password and setting a new one.</a:t>
            </a:r>
            <a:endParaRPr lang="en-US" sz="25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>
              <a:sym typeface="+mn-ea"/>
            </a:endParaRPr>
          </a:p>
          <a:p>
            <a:pPr marL="0" indent="0">
              <a:buNone/>
            </a:pPr>
            <a:r>
              <a:rPr lang="en-US" sz="2500" b="1">
                <a:sym typeface="+mn-ea"/>
              </a:rPr>
              <a:t>Sequence Diagram for  Change Password</a:t>
            </a:r>
            <a:endParaRPr lang="en-US" sz="2500" b="1"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815" y="2312670"/>
            <a:ext cx="8393430" cy="2442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8 - Loan Application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2015490"/>
            <a:ext cx="9603105" cy="3789045"/>
          </a:xfrm>
        </p:spPr>
        <p:txBody>
          <a:bodyPr>
            <a:normAutofit fontScale="57500" lnSpcReduction="20000"/>
          </a:bodyPr>
          <a:lstStyle/>
          <a:p>
            <a:pPr marL="0" indent="0">
              <a:buNone/>
            </a:pPr>
            <a:r>
              <a:rPr lang="en-US" sz="2500"/>
              <a:t>  - User submits a loan application. The application is processed and reviewed by the bank.</a:t>
            </a:r>
            <a:endParaRPr lang="en-US" sz="25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400" b="1"/>
              <a:t>Sequence Diagram for </a:t>
            </a:r>
            <a:r>
              <a:rPr lang="en-US" sz="2400" b="1">
                <a:sym typeface="+mn-ea"/>
              </a:rPr>
              <a:t>Loan Application</a:t>
            </a:r>
            <a:endParaRPr lang="en-US" sz="2400" b="1"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3720" y="2426970"/>
            <a:ext cx="9144000" cy="2631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9 - Download Account Statement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900"/>
              <a:t>- User selects a date range to download their account statement in a preferred format.</a:t>
            </a:r>
            <a:endParaRPr lang="en-US" sz="29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900"/>
              <a:t>Sequence Diagram for </a:t>
            </a:r>
            <a:r>
              <a:rPr lang="en-US" sz="2900">
                <a:sym typeface="+mn-ea"/>
              </a:rPr>
              <a:t>Download Account Statement</a:t>
            </a:r>
            <a:endParaRPr lang="en-US" sz="2900"/>
          </a:p>
          <a:p>
            <a:pPr marL="0" indent="0">
              <a:buNone/>
            </a:pPr>
            <a:endParaRPr lang="en-US" sz="29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315" y="2640330"/>
            <a:ext cx="8122920" cy="2423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10 - User Logout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524000"/>
            <a:ext cx="10972800" cy="4525963"/>
          </a:xfrm>
        </p:spPr>
        <p:txBody>
          <a:bodyPr>
            <a:normAutofit fontScale="75000" lnSpcReduction="20000"/>
          </a:bodyPr>
          <a:lstStyle/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 Logged-in user logs out of the system securely.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 b="1"/>
              <a:t>Sequence Diagram for </a:t>
            </a:r>
            <a:r>
              <a:rPr lang="en-US" sz="2400" b="1">
                <a:sym typeface="+mn-ea"/>
              </a:rPr>
              <a:t>User Logout</a:t>
            </a:r>
            <a:endParaRPr lang="en-US" sz="2400" b="1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515" y="2238375"/>
            <a:ext cx="8648700" cy="3098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6.Supplementary Documentation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800"/>
              <a:t> </a:t>
            </a:r>
            <a:r>
              <a:rPr lang="en-US" sz="1800"/>
              <a:t>Ensures effective utilization and management of the Online Banking System</a:t>
            </a:r>
            <a:r>
              <a:rPr lang="en-US" sz="2800"/>
              <a:t>.</a:t>
            </a:r>
            <a:endParaRPr 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 User Manuals:</a:t>
            </a:r>
            <a:r>
              <a:rPr lang="en-US">
                <a:sym typeface="+mn-ea"/>
              </a:rPr>
              <a:t>Empower end-users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 Technical Documentation:</a:t>
            </a:r>
            <a:r>
              <a:rPr lang="en-US">
                <a:sym typeface="+mn-ea"/>
              </a:rPr>
              <a:t>Provides in-depth technical information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Security Guidelines:</a:t>
            </a:r>
            <a:r>
              <a:rPr lang="en-US">
                <a:sym typeface="+mn-ea"/>
              </a:rPr>
              <a:t>Framework for protecting user data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Compliance Documentation:</a:t>
            </a:r>
            <a:r>
              <a:rPr lang="en-US">
                <a:sym typeface="+mn-ea"/>
              </a:rPr>
              <a:t>Outlines adherence to legal and regulatory requirements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 Change Management Document:</a:t>
            </a:r>
            <a:r>
              <a:rPr lang="en-US">
                <a:sym typeface="+mn-ea"/>
              </a:rPr>
              <a:t>Manages updates and modifications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Training Materials:</a:t>
            </a:r>
            <a:r>
              <a:rPr lang="en-US">
                <a:sym typeface="+mn-ea"/>
              </a:rPr>
              <a:t>Assists in onboarding new users and staff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Collaboration diagram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Focuses on the relationships and interactions between objects in a scenario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8" name="Picture 7" descr="Collaboration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310" y="2501900"/>
            <a:ext cx="8935720" cy="29648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710" y="2500313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Thanks for listening to us, now you can ask your questions</a:t>
            </a:r>
            <a:endParaRPr lang="en-US" sz="5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4801</Words>
  <Application>WPS Presentation</Application>
  <PresentationFormat>Widescreen</PresentationFormat>
  <Paragraphs>332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SimSun</vt:lpstr>
      <vt:lpstr>Wingdings</vt:lpstr>
      <vt:lpstr>Wingdings</vt:lpstr>
      <vt:lpstr>Calibri</vt:lpstr>
      <vt:lpstr>Gill Sans MT</vt:lpstr>
      <vt:lpstr>Microsoft YaHei</vt:lpstr>
      <vt:lpstr>Arial Unicode MS</vt:lpstr>
      <vt:lpstr>Gallery</vt:lpstr>
      <vt:lpstr>Online Banking System Design Document</vt:lpstr>
      <vt:lpstr>PREAPRED BY:</vt:lpstr>
      <vt:lpstr>1.INTRODUCTION</vt:lpstr>
      <vt:lpstr>Functionality Coverage</vt:lpstr>
      <vt:lpstr>Scope and Context</vt:lpstr>
      <vt:lpstr>2.Design Overview</vt:lpstr>
      <vt:lpstr> Environment Overview</vt:lpstr>
      <vt:lpstr>Network Diagram</vt:lpstr>
      <vt:lpstr> System Architecture</vt:lpstr>
      <vt:lpstr>Client Interface</vt:lpstr>
      <vt:lpstr> Server Back-end</vt:lpstr>
      <vt:lpstr>3.Interfaces </vt:lpstr>
      <vt:lpstr>Database</vt:lpstr>
      <vt:lpstr>PowerPoint 演示文稿</vt:lpstr>
      <vt:lpstr>4. Structural Design</vt:lpstr>
      <vt:lpstr>Class Diagram</vt:lpstr>
      <vt:lpstr>Object diagram</vt:lpstr>
      <vt:lpstr>5.Dynamic Model </vt:lpstr>
      <vt:lpstr>Scenario 1 - User Registration</vt:lpstr>
      <vt:lpstr> Scenario 2 - User Login</vt:lpstr>
      <vt:lpstr>Scenario 3 - Fund Transfer</vt:lpstr>
      <vt:lpstr> Scenario 4 - View Transaction History</vt:lpstr>
      <vt:lpstr>Scenario 5 - Bill Payment</vt:lpstr>
      <vt:lpstr> Scenario 6 - Profile Update</vt:lpstr>
      <vt:lpstr>Scenario 7 - Change Password</vt:lpstr>
      <vt:lpstr>Scenario 8 - Loan Application</vt:lpstr>
      <vt:lpstr>Scenario 9 - Download Account Statement</vt:lpstr>
      <vt:lpstr>Scenario 10 - User Logout</vt:lpstr>
      <vt:lpstr>6.Supplementary Documentation </vt:lpstr>
      <vt:lpstr>PowerPoint 演示文稿</vt:lpstr>
      <vt:lpstr>Thanks for listening to us, now you can ask your 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Banking System Design Document</dc:title>
  <dc:creator/>
  <cp:lastModifiedBy>josef dagne</cp:lastModifiedBy>
  <cp:revision>23</cp:revision>
  <dcterms:created xsi:type="dcterms:W3CDTF">2024-11-16T04:30:00Z</dcterms:created>
  <dcterms:modified xsi:type="dcterms:W3CDTF">2024-11-16T09:09:34Z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F3853292B6C3430BAD99E37C262D1613_13</vt:lpwstr>
  </property>
  <property fmtid="{D5CDD505-2E9C-101B-9397-08002B2CF9AE}" pid="3" name="KSOProductBuildVer">
    <vt:lpwstr>1033-12.2.0.18911</vt:lpwstr>
  </property>
</Properties>
</file>